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B64D"/>
          </a:solidFill>
          <a:ln w="12700">
            <a:solidFill>
              <a:srgbClr val="FFB6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0080"/>
            <a:ext cx="5074920" cy="5440680"/>
          </a:xfrm>
          <a:prstGeom prst="rect">
            <a:avLst/>
          </a:prstGeom>
          <a:solidFill>
            <a:srgbClr val="FFFDFC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822960"/>
            <a:ext cx="5623560" cy="5074920"/>
          </a:xfrm>
          <a:prstGeom prst="roundRect">
            <a:avLst>
              <a:gd name="adj" fmla="val 1081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024128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Flipkart data scraps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607C"/>
                </a:solidFill>
              </a:rPr>
              <a:t>Batch product scrapper and batch review scrapper project report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8163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9D8A"/>
                </a:solidFill>
              </a:rPr>
              <a:t>Academic viva / demo presentation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9D8A"/>
                </a:solidFill>
              </a:rPr>
              <a:t>Repository focus: batch flow only, not main.py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3931920"/>
            <a:ext cx="1920240" cy="969264"/>
          </a:xfrm>
          <a:prstGeom prst="roundRect">
            <a:avLst>
              <a:gd name="adj" fmla="val 754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5993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Name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31596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&lt;Your Name&gt;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07792" y="3931920"/>
            <a:ext cx="1920240" cy="969264"/>
          </a:xfrm>
          <a:prstGeom prst="roundRect">
            <a:avLst>
              <a:gd name="adj" fmla="val 754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405993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College / Dept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72384" y="431596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&lt;Your College&gt;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5047488"/>
            <a:ext cx="1920240" cy="768096"/>
          </a:xfrm>
          <a:prstGeom prst="roundRect">
            <a:avLst>
              <a:gd name="adj" fmla="val 9524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17550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Guide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431536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&lt;Mentor Name&gt;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07792" y="5047488"/>
            <a:ext cx="1920240" cy="768096"/>
          </a:xfrm>
          <a:prstGeom prst="roundRect">
            <a:avLst>
              <a:gd name="adj" fmla="val 9524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2384" y="517550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Date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72384" y="5431536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&lt;Presentation Date&gt;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36208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</a:rPr>
              <a:t>Report Highlights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36208" y="1463040"/>
            <a:ext cx="457200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Two-stage pipeline: product discovery -&gt; review enrichment</a:t>
            </a:r>
            <a:pPr indent="0" marL="0">
              <a:buNone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function names and supporting modules from the batch flow</a:t>
            </a:r>
            <a:pPr indent="0" marL="0">
              <a:buNone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stack, data flow, error handling, testing, and limits</a:t>
            </a:r>
            <a:pPr indent="0" marL="0">
              <a:buNone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Outputs: CSV, JSON, TXT reports, ZIP artifacts, and resume ledger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36208" y="4645152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773168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Scope note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5029200"/>
            <a:ext cx="4242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607C"/>
                </a:solidFill>
              </a:rPr>
              <a:t>Slides are based on scraper/batch_product_scraper.py, scraper/batch_review_scraper.py, and the direct helper modules used in that workflow.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1/14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Context And Objective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548640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automates large-scale Flipkart scraping in two batch stages instead of one ad hoc single-URL run.</a:t>
            </a:r>
            <a:pPr indent="0" marL="0">
              <a:buNone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discovers products across 18 configured subcategories through SUBCATEGORY_TARGETS in scraper/batch_product_scraper.py.</a:t>
            </a:r>
            <a:pPr indent="0" marL="0">
              <a:buNone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 reads those product CSVs and enriches them with structured customer reviews using scraper/batch_review_scraper.py.</a:t>
            </a:r>
            <a:pPr indent="0" marL="0">
              <a:buNone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academic value is the complete data pipeline: collection, normalization, persistence, recovery, and validation.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6492240" y="137160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56832" y="1499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Pipeline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56832" y="1755648"/>
            <a:ext cx="18196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607C"/>
                </a:solidFill>
              </a:rPr>
              <a:t>Convert raw Flipkart pages into reusable CSV and report artifacts.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23960" y="1371600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88552" y="1499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Primary Users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88552" y="1755648"/>
            <a:ext cx="18196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90" dirty="0">
                <a:solidFill>
                  <a:srgbClr val="4B607C"/>
                </a:solidFill>
              </a:rPr>
              <a:t>Student researcher, evaluator, or analyst who needs category-wise product and review datasets.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6492240" y="256032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688336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Why Batch Instead Of main.py?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56832" y="2944368"/>
            <a:ext cx="41513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main.py is a single-run entrypoint. The batch design adds multiple categories, concurrency, resumable review scraping, and packaged run artifacts.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7947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3922776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Key Outputs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56832" y="4178808"/>
            <a:ext cx="41513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Product CSVs, review CSVs, JSON/TXT run reports, ZIP archives, and a review-status ledger for resume mode.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2/14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 Used In The Batch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389888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1790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773936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607C"/>
                </a:solidFill>
              </a:rPr>
              <a:t>Main language for scraping logic, CLI handling, data classes, and artifact writing.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364992" y="1389888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51790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Playwright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9584" y="1773936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607C"/>
                </a:solidFill>
              </a:rPr>
              <a:t>Browser automation used by create_browser_context() and get_page_html().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998464" y="1389888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51790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BeautifulSoup + lxml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3056" y="1773936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607C"/>
                </a:solidFill>
              </a:rPr>
              <a:t>DOM parsing stack used in product and review extraction.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631936" y="1389888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96528" y="151790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Parallel + artifacts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96528" y="1773936"/>
            <a:ext cx="2139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607C"/>
                </a:solidFill>
              </a:rPr>
              <a:t>ProcessPoolExecutor, csv, json, and zipfile support concurrent jobs and stored outputs.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31520" y="2788920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DDF6F2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834640"/>
            <a:ext cx="2798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Important runtime defaults from code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3127248"/>
            <a:ext cx="548640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batch: DEFAULT_MAX_PRODUCTS = 100, DEFAULT_CONCURRENCY = 4</a:t>
            </a:r>
            <a:pPr indent="0" marL="0">
              <a:buNone/>
            </a:pPr>
            <a:r>
              <a:rPr lang="en-US" sz="15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batch: DEFAULT_MAX_REVIEWS_PER_PRODUCT = 100, DEFAULT_CONCURRENCY = 16</a:t>
            </a:r>
            <a:pPr indent="0" marL="0">
              <a:buNone/>
            </a:pPr>
            <a:r>
              <a:rPr lang="en-US" sz="15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page stopping controls: MAX_EMPTY_PAGES = 3, MAX_PAGES_PER_SUBCATEGORY = 12</a:t>
            </a:r>
            <a:pPr indent="0" marL="0">
              <a:buNone/>
            </a:pPr>
            <a:r>
              <a:rPr lang="en-US" sz="15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retry controls: DEFAULT_RETRIES = 2, empty-page retry wait = 8.0 seconds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83680" y="2834640"/>
            <a:ext cx="4800600" cy="2423160"/>
          </a:xfrm>
          <a:prstGeom prst="roundRect">
            <a:avLst>
              <a:gd name="adj" fmla="val 1887"/>
            </a:avLst>
          </a:prstGeom>
          <a:solidFill>
            <a:srgbClr val="F3F6FA"/>
          </a:solidFill>
          <a:ln w="12700">
            <a:solidFill>
              <a:srgbClr val="C6D1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2834640"/>
            <a:ext cx="4800600" cy="3017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2907792"/>
            <a:ext cx="4581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requirements.txt + concurrency signals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11696" y="3218688"/>
            <a:ext cx="4544568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cloudscraper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beautifulsoup4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tqdm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lxml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concurrent.futures import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ProcessPoolExecutor, as_completed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3/14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Architecture For Batch Scraping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2821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33F"/>
                </a:solidFill>
              </a:rPr>
              <a:t>batch_product_scraper.py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96112" y="198424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B607C"/>
                </a:solidFill>
              </a:rPr>
              <a:t>Search URL creation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B607C"/>
                </a:solidFill>
              </a:rPr>
              <a:t>Product extraction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B607C"/>
                </a:solidFill>
              </a:rPr>
              <a:t>Category CSV writing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971800" y="16002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72821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33F"/>
                </a:solidFill>
              </a:rPr>
              <a:t>utils.py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136392" y="198424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create_browser_context()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get_page_html()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Shared Playwright runtime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212080" y="16002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172821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33F"/>
                </a:solidFill>
              </a:rPr>
              <a:t>batch_review_scraper.py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376672" y="198424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B607C"/>
                </a:solidFill>
              </a:rPr>
              <a:t>Reads product CSVs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B607C"/>
                </a:solidFill>
              </a:rPr>
              <a:t>Scrapes reviews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B607C"/>
                </a:solidFill>
              </a:rPr>
              <a:t>Resumable outputs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452360" y="16002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6952" y="172821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33F"/>
                </a:solidFill>
              </a:rPr>
              <a:t>review_scraper.py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616952" y="1984248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Review page URL logic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Review block parser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Metadata extraction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9692640" y="160020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57232" y="172821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33F"/>
                </a:solidFill>
              </a:rPr>
              <a:t>Artifacts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57232" y="1984248"/>
            <a:ext cx="145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CSV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JSON/TXT reports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ZIP packages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2679192" y="1993392"/>
            <a:ext cx="201168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9472" y="1993392"/>
            <a:ext cx="201168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9752" y="1993392"/>
            <a:ext cx="201168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00032" y="1993392"/>
            <a:ext cx="201168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200400"/>
            <a:ext cx="3474720" cy="1901952"/>
          </a:xfrm>
          <a:prstGeom prst="roundRect">
            <a:avLst>
              <a:gd name="adj" fmla="val 384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32841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Product Stage Inputs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584448"/>
            <a:ext cx="31455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SUBCATEGORY_TARGETS defines 18 category-subcategory pairs. Each pair is converted into a Flipkart search URL through build_search_url(), then paginated by build_page_url().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70832" y="3200400"/>
            <a:ext cx="3474720" cy="1901952"/>
          </a:xfrm>
          <a:prstGeom prst="roundRect">
            <a:avLst>
              <a:gd name="adj" fmla="val 384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5424" y="332841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Review Stage Inputs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35424" y="3584448"/>
            <a:ext cx="31455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load_product_inputs() reads every generated product CSV, validates required columns, and creates ProductInput objects used by review workers.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91856" y="3200400"/>
            <a:ext cx="3474720" cy="1901952"/>
          </a:xfrm>
          <a:prstGeom prst="roundRect">
            <a:avLst>
              <a:gd name="adj" fmla="val 384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332841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Core Design Pattern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56448" y="3584448"/>
            <a:ext cx="31455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Dataclasses capture stable row schemas, helper functions isolate scraping logic, and artifact writers separate data collection from persistence.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4/14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Workflow: Batch Product Scrapper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13232" y="1920240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4825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33F"/>
                </a:solidFill>
              </a:rPr>
              <a:t>1. Target List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77824" y="2304288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SUBCATEGORY_TARGETS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18 fixed subcategories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743200" y="1920240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20482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33F"/>
                </a:solidFill>
              </a:rPr>
              <a:t>2. Query Build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2907792" y="230428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build_search_url()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build_page_url()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919472" y="1920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4064" y="204825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33F"/>
                </a:solidFill>
              </a:rPr>
              <a:t>3. Page Fetch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5084064" y="2304288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create_browser_context()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get_page_html()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168896" y="1920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204825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33F"/>
                </a:solidFill>
              </a:rPr>
              <a:t>4. Record Parse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7333488" y="2304288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4B607C"/>
                </a:solidFill>
              </a:rPr>
              <a:t>parse_product_records()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B607C"/>
                </a:solidFill>
              </a:rPr>
              <a:t>extract_title(), extract_counts()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9418320" y="192024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912" y="204825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33F"/>
                </a:solidFill>
              </a:rPr>
              <a:t>5. Artifact Write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9582912" y="2304288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4B607C"/>
                </a:solidFill>
              </a:rPr>
              <a:t>write_category_csv()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B607C"/>
                </a:solidFill>
              </a:rPr>
              <a:t>write_run_artifacts()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2542032" y="2276856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8304" y="2276856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67728" y="2276856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7152" y="2276856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657600"/>
            <a:ext cx="548640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collect_products_for_target() loops across up to 12 listing pages per subcategory.</a:t>
            </a:r>
            <a:pPr indent="0" marL="0">
              <a:buNone/>
            </a:pPr>
            <a:r>
              <a:rPr lang="en-US" sz="14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scraper retries missing HTML responses, increments empty_pages, and stops after MAX_EMPTY_PAGES consecutive misses or empty results.</a:t>
            </a:r>
            <a:pPr indent="0" marL="0">
              <a:buNone/>
            </a:pPr>
            <a:r>
              <a:rPr lang="en-US" sz="14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product URLs are filtered through seen_urls so each listing row stays unique.</a:t>
            </a:r>
            <a:pPr indent="0" marL="0">
              <a:buNone/>
            </a:pPr>
            <a:r>
              <a:rPr lang="en-US" sz="14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scrape_and_write_target() wraps one target, while run_batch() distributes all targets through ProcessPoolExecutor.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6492240" y="3493008"/>
            <a:ext cx="4754880" cy="2103120"/>
          </a:xfrm>
          <a:prstGeom prst="roundRect">
            <a:avLst>
              <a:gd name="adj" fmla="val 2174"/>
            </a:avLst>
          </a:prstGeom>
          <a:solidFill>
            <a:srgbClr val="F3F6FA"/>
          </a:solidFill>
          <a:ln w="12700">
            <a:solidFill>
              <a:srgbClr val="C6D1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493008"/>
            <a:ext cx="4754880" cy="3017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566160"/>
            <a:ext cx="4535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 example from docs/BATCH_WORKFLOWS.md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0256" y="3877056"/>
            <a:ext cx="449884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scraper.batch_product_scraper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--output-dir data/runs/20260522_products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--max-products 100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--concurrency 4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--retries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5/14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Functions In Product Discovery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98448"/>
            <a:ext cx="3886200" cy="256032"/>
          </a:xfrm>
          <a:prstGeom prst="roundRect">
            <a:avLst>
              <a:gd name="adj" fmla="val 17857"/>
            </a:avLst>
          </a:prstGeom>
          <a:solidFill>
            <a:srgbClr val="DDF6F2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344168"/>
            <a:ext cx="3666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High-impact functions from scraper/batch_product_scraper.py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691640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965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slugify(value)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607C"/>
                </a:solidFill>
              </a:rPr>
              <a:t>Creates safe file names like beauty-care-women-skincare.csv.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23360" y="1691640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7952" y="181965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parse_product_records(...)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87952" y="2075688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607C"/>
                </a:solidFill>
              </a:rPr>
              <a:t>Converts one listing page HTML into normalized ProductRecord rows.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96912" y="1691640"/>
            <a:ext cx="265176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504" y="181965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0233F"/>
                </a:solidFill>
              </a:rPr>
              <a:t>collect_products_for_target(...)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461504" y="20756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90" dirty="0">
                <a:solidFill>
                  <a:srgbClr val="4B607C"/>
                </a:solidFill>
              </a:rPr>
              <a:t>Handles retry, pagination, and de-duplication.</a:t>
            </a:r>
            <a:endParaRPr lang="en-US" sz="990" dirty="0"/>
          </a:p>
        </p:txBody>
      </p:sp>
      <p:sp>
        <p:nvSpPr>
          <p:cNvPr id="17" name="Shape 15"/>
          <p:cNvSpPr/>
          <p:nvPr/>
        </p:nvSpPr>
        <p:spPr>
          <a:xfrm>
            <a:off x="10131552" y="169164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96144" y="1819656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33F"/>
                </a:solidFill>
              </a:rPr>
              <a:t>run_batch(...)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0296144" y="207568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4B607C"/>
                </a:solidFill>
              </a:rPr>
              <a:t>Runs subcategory jobs in parallel.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49808" y="2788920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91693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extract_title(...)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172968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607C"/>
                </a:solidFill>
              </a:rPr>
              <a:t>Chooses the cleanest title from anchor, card text, or URL slug fallback.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2788920"/>
            <a:ext cx="306324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291693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extract_product_id(...)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87952" y="3172968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607C"/>
                </a:solidFill>
              </a:rPr>
              <a:t>Parses product ID from query pid or /p/&lt;id&gt; path.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96912" y="2788920"/>
            <a:ext cx="265176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61504" y="291693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0233F"/>
                </a:solidFill>
              </a:rPr>
              <a:t>write_category_csv(...)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7461504" y="317296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90" dirty="0">
                <a:solidFill>
                  <a:srgbClr val="4B607C"/>
                </a:solidFill>
              </a:rPr>
              <a:t>Writes one CSV per category-subcategory pair.</a:t>
            </a:r>
            <a:endParaRPr lang="en-US" sz="990" dirty="0"/>
          </a:p>
        </p:txBody>
      </p:sp>
      <p:sp>
        <p:nvSpPr>
          <p:cNvPr id="29" name="Shape 27"/>
          <p:cNvSpPr/>
          <p:nvPr/>
        </p:nvSpPr>
        <p:spPr>
          <a:xfrm>
            <a:off x="10131552" y="27889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96144" y="2916936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0233F"/>
                </a:solidFill>
              </a:rPr>
              <a:t>write_run_artifacts(...)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10296144" y="317296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607C"/>
                </a:solidFill>
              </a:rPr>
              <a:t>Writes JSON, TXT, and ZIP outputs.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" y="3931920"/>
            <a:ext cx="5120640" cy="2011680"/>
          </a:xfrm>
          <a:prstGeom prst="roundRect">
            <a:avLst>
              <a:gd name="adj" fmla="val 2273"/>
            </a:avLst>
          </a:prstGeom>
          <a:solidFill>
            <a:srgbClr val="F3F6FA"/>
          </a:solidFill>
          <a:ln w="12700">
            <a:solidFill>
              <a:srgbClr val="C6D1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" y="3931920"/>
            <a:ext cx="5120640" cy="3017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" y="4005072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Snippet: parse_product_records()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824" y="4315968"/>
            <a:ext cx="486460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anchor in soup.find_all('a', href=True):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'/p/' not in href: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product_url = absolute_product_url(href)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 = find_card_container(anchor)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records.append(ProductRecord(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title=extract_title(anchor, card, product_url),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product_id=extract_product_id(product_url),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39319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405993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Why this stage matters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91072" y="4315968"/>
            <a:ext cx="488289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This stage is responsible for dataset breadth. If product discovery is weak or duplicate-prone, the downstream review stage inherits incomplete coverage.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6/14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Batch Outputs And Stored Artifacts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557784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CSV per subcategory with 10 normalized columns: category, subcategory, title, price, rating, ratings_count, reviews_count, product_url, product_id, and source_url.</a:t>
            </a:r>
            <a:pPr indent="0" marL="0">
              <a:buNone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run_report.json contains structured run metadata and per-subcategory status.</a:t>
            </a:r>
            <a:pPr indent="0" marL="0">
              <a:buNone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run_report.txt produces a simple readable audit log.</a:t>
            </a:r>
            <a:pPr indent="0" marL="0">
              <a:buNone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20" dirty="0"/>
          </a:p>
          <a:p>
            <a:pPr marL="152400" indent="-152400">
              <a:buSzPct val="100000"/>
              <a:buChar char="•"/>
            </a:pPr>
            <a:r>
              <a:rPr lang="en-US" sz="16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flipkart_product_csvs.zip packages all CSVs and reports for transfer or archival.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6583680" y="1389888"/>
            <a:ext cx="4572000" cy="1965960"/>
          </a:xfrm>
          <a:prstGeom prst="roundRect">
            <a:avLst>
              <a:gd name="adj" fmla="val 2326"/>
            </a:avLst>
          </a:prstGeom>
          <a:solidFill>
            <a:srgbClr val="F3F6FA"/>
          </a:solidFill>
          <a:ln w="12700">
            <a:solidFill>
              <a:srgbClr val="C6D1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389888"/>
            <a:ext cx="4572000" cy="3017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1463040"/>
            <a:ext cx="4352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Snippet: write_run_artifacts()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11696" y="1773936"/>
            <a:ext cx="431596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'summary':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'total_subcategories': len(results),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'successful_subcategories': len(successful_results),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'total_rows': sum(result.row_count for result in results),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zip_path = output_dir / 'flipkart_product_csvs.zip'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0" y="3611880"/>
            <a:ext cx="2103120" cy="1060704"/>
          </a:xfrm>
          <a:prstGeom prst="roundRect">
            <a:avLst>
              <a:gd name="adj" fmla="val 6897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373989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Status values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48272" y="3995928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success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empty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failed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87968" y="3611880"/>
            <a:ext cx="2267712" cy="1060704"/>
          </a:xfrm>
          <a:prstGeom prst="roundRect">
            <a:avLst>
              <a:gd name="adj" fmla="val 689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373989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Evidence for viva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2560" y="399592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Outputs show the scraper is not only collecting data but also documenting run quality.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434840"/>
            <a:ext cx="3337560" cy="1225296"/>
          </a:xfrm>
          <a:prstGeom prst="roundRect">
            <a:avLst>
              <a:gd name="adj" fmla="val 5970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628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Sample file naming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81888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beauty-care-women-skincare.csv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electronics-smartphones.csv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wearable-devices-smartwatches.csv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79392" y="4434840"/>
            <a:ext cx="3337560" cy="1225296"/>
          </a:xfrm>
          <a:prstGeom prst="roundRect">
            <a:avLst>
              <a:gd name="adj" fmla="val 5970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45628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Normalization benefit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43984" y="481888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Downstream stages receive predictable, machine-readable records instead of raw HTML fragments.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08976" y="4434840"/>
            <a:ext cx="3337560" cy="1225296"/>
          </a:xfrm>
          <a:prstGeom prst="roundRect">
            <a:avLst>
              <a:gd name="adj" fmla="val 5970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3568" y="45628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Testing evidence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73568" y="4818888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tests/test_batch_product_scraper.py validates URL building, slugification, parsing, and artifact generation.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7/14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Workflow: Batch Review Scrapper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94944" y="1874520"/>
            <a:ext cx="1938528" cy="987552"/>
          </a:xfrm>
          <a:prstGeom prst="roundRect">
            <a:avLst>
              <a:gd name="adj" fmla="val 740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00253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33F"/>
                </a:solidFill>
              </a:rPr>
              <a:t>1. Product CSV Input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59536" y="225856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load_product_inputs()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validates required fields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834640" y="187452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00253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33F"/>
                </a:solidFill>
              </a:rPr>
              <a:t>2. Resume Filter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999232" y="2258568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load_completed_product_keys()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skips terminal states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084064" y="1874520"/>
            <a:ext cx="2103120" cy="987552"/>
          </a:xfrm>
          <a:prstGeom prst="roundRect">
            <a:avLst>
              <a:gd name="adj" fmla="val 740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200253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0233F"/>
                </a:solidFill>
              </a:rPr>
              <a:t>3. Review Fetch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5248656" y="2258568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scrape_product_reviews()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page retry logic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406640" y="1874520"/>
            <a:ext cx="2139696" cy="987552"/>
          </a:xfrm>
          <a:prstGeom prst="roundRect">
            <a:avLst>
              <a:gd name="adj" fmla="val 7407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200253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F"/>
                </a:solidFill>
              </a:rPr>
              <a:t>4. Row Normalize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71232" y="2258568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4B607C"/>
                </a:solidFill>
              </a:rPr>
              <a:t>normalize_review_rows()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4B607C"/>
                </a:solidFill>
              </a:rPr>
              <a:t>caps or uncaps reviews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9765792" y="1874520"/>
            <a:ext cx="1682496" cy="987552"/>
          </a:xfrm>
          <a:prstGeom prst="roundRect">
            <a:avLst>
              <a:gd name="adj" fmla="val 740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30384" y="20025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33F"/>
                </a:solidFill>
              </a:rPr>
              <a:t>5. Incremental Write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9930384" y="2258568"/>
            <a:ext cx="1353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607C"/>
                </a:solidFill>
              </a:rPr>
              <a:t>append_product_artifacts()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607C"/>
                </a:solidFill>
              </a:rPr>
              <a:t>status ledger update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51760" y="2221992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221992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77456" y="2221992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90304" y="2221992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566160"/>
            <a:ext cx="571500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run_review_batch() can continue interrupted runs because completed product IDs are persisted in product_review_status.csv.</a:t>
            </a:r>
            <a:pPr indent="0" marL="0">
              <a:buNone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pages are discovered by get_reviews_url() and _build_review_page_url() from scraper/review_scraper.py.</a:t>
            </a:r>
            <a:pPr indent="0" marL="0">
              <a:buNone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first-page empty results, the code performs an additional delayed retry using empty_retry_wait_seconds.</a:t>
            </a:r>
            <a:pPr indent="0" marL="0">
              <a:buNone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stage writes combined review CSVs, per-subcategory review CSVs, failed and empty ledgers, plus JSON/TXT reports and ZIP output.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6675120" y="3493008"/>
            <a:ext cx="4617720" cy="2103120"/>
          </a:xfrm>
          <a:prstGeom prst="roundRect">
            <a:avLst>
              <a:gd name="adj" fmla="val 2174"/>
            </a:avLst>
          </a:prstGeom>
          <a:solidFill>
            <a:srgbClr val="F3F6FA"/>
          </a:solidFill>
          <a:ln w="12700">
            <a:solidFill>
              <a:srgbClr val="C6D1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3493008"/>
            <a:ext cx="4617720" cy="3017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3566160"/>
            <a:ext cx="4398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 example from docs/BATCH_WORKFLOWS.md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03136" y="3877056"/>
            <a:ext cx="436168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scraper.batch_review_scraper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--product-dir data/runs/20260522_products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--output-dir data/runs/20260522_reviews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--max-reviews 0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--concurrency 1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--retries 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8/14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Functions In Review Scraping And Parsing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48132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93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load_product_inputs(...)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65376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B607C"/>
                </a:solidFill>
              </a:rPr>
              <a:t>Reads product CSVs and builds ProductInput records.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767328" y="148132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6093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scrape_product_reviews(...)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865376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90" dirty="0">
                <a:solidFill>
                  <a:srgbClr val="4B607C"/>
                </a:solidFill>
              </a:rPr>
              <a:t>Drives retry logic, pagination, waits, and result status creation.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6784848" y="148132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60934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normalize_review_rows(...)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1865376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607C"/>
                </a:solidFill>
              </a:rPr>
              <a:t>Copies product metadata onto raw review dictionaries.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802368" y="1481328"/>
            <a:ext cx="164592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0" y="160934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33F"/>
                </a:solidFill>
              </a:rPr>
              <a:t>append_product_artifacts(...)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9966960" y="1865376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4B607C"/>
                </a:solidFill>
              </a:rPr>
              <a:t>Persists each finished product immediately.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749808" y="257860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066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get_reviews_url(...)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962656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607C"/>
                </a:solidFill>
              </a:rPr>
              <a:t>Converts /p/ product path into /product-reviews/ path.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67328" y="257860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27066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_get_rating_nodes(...)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2962656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90" dirty="0">
                <a:solidFill>
                  <a:srgbClr val="4B607C"/>
                </a:solidFill>
              </a:rPr>
              <a:t>Finds true review rating nodes with one-decimal validation.</a:t>
            </a:r>
            <a:endParaRPr lang="en-US" sz="990" dirty="0"/>
          </a:p>
        </p:txBody>
      </p:sp>
      <p:sp>
        <p:nvSpPr>
          <p:cNvPr id="24" name="Shape 22"/>
          <p:cNvSpPr/>
          <p:nvPr/>
        </p:nvSpPr>
        <p:spPr>
          <a:xfrm>
            <a:off x="6784848" y="257860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7066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_parse_review_block(...)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962656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B607C"/>
                </a:solidFill>
              </a:rPr>
              <a:t>Extracts title, body, reviewer, date, helpful count, city, and badge.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802368" y="2578608"/>
            <a:ext cx="1645920" cy="841248"/>
          </a:xfrm>
          <a:prstGeom prst="roundRect">
            <a:avLst>
              <a:gd name="adj" fmla="val 8696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66960" y="270662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0233F"/>
                </a:solidFill>
              </a:rPr>
              <a:t>_extract_reviews_from_page(...)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9966960" y="2962656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B607C"/>
                </a:solidFill>
              </a:rPr>
              <a:t>Deduplicates parsed review blocks per page.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49808" y="3749040"/>
            <a:ext cx="5074920" cy="2084832"/>
          </a:xfrm>
          <a:prstGeom prst="roundRect">
            <a:avLst>
              <a:gd name="adj" fmla="val 2193"/>
            </a:avLst>
          </a:prstGeom>
          <a:solidFill>
            <a:srgbClr val="F3F6FA"/>
          </a:solidFill>
          <a:ln w="12700">
            <a:solidFill>
              <a:srgbClr val="C6D1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3749040"/>
            <a:ext cx="5074920" cy="3017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3822192"/>
            <a:ext cx="4855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Snippet: scrape_product_reviews()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7824" y="4133088"/>
            <a:ext cx="481888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max_pages is None or page_number &lt;= max_pages: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review_page_url = _build_review_page_url(...)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html = get_page_html(context, review_page_url)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page_reviews = _extract_reviews_from_page(...)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page_number == 1 and not page_reviews: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retry_html = get_page_html(..., wait_seconds=empty_retry_wait_seconds)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raw_reviews.extend(page_reviews)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63056" y="3749040"/>
            <a:ext cx="5074920" cy="2084832"/>
          </a:xfrm>
          <a:prstGeom prst="roundRect">
            <a:avLst>
              <a:gd name="adj" fmla="val 2193"/>
            </a:avLst>
          </a:prstGeom>
          <a:solidFill>
            <a:srgbClr val="F3F6FA"/>
          </a:solidFill>
          <a:ln w="12700">
            <a:solidFill>
              <a:srgbClr val="C6D1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3056" y="3749040"/>
            <a:ext cx="5074920" cy="3017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3822192"/>
            <a:ext cx="4855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Snippet: _parse_review_block()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1072" y="4133088"/>
            <a:ext cx="481888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rating_text = texts[0]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= texts[2] if len(texts) &gt; 2 else ''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variant_match = _VARIANT_PATTERN.fullmatch(texts[3])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= texts[body_index] if len(texts) &gt; body_index else ''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 = texts[reviewer_index] if len(texts) &gt; reviewer_index else ''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{'rating': float(rating_text), 'title': title, ...}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9/14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Flow And Persistence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5681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Search Pages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212848"/>
            <a:ext cx="16824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Flipkart listing HTML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product anchors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71800" y="18288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95681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ProductRecord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36392" y="2212848"/>
            <a:ext cx="16824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normalized listing row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written per subcategory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0" y="18288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195681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ProductInput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2212848"/>
            <a:ext cx="16824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CSV -&gt; dataclass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review work item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2360" y="18288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6952" y="195681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ReviewRow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16952" y="2212848"/>
            <a:ext cx="16824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product + review metadata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combined output row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92640" y="18288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57232" y="195681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Reports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57232" y="2212848"/>
            <a:ext cx="1499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status ledgers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JSON/TXT/ZIP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0" y="2176272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176272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2176272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64040" y="2176272"/>
            <a:ext cx="164592" cy="237744"/>
          </a:xfrm>
          <a:prstGeom prst="chevron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56432"/>
            <a:ext cx="562356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5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stage transforms raw page HTML into ProductRecord rows with a stable schema.</a:t>
            </a:r>
            <a:pPr indent="0" marL="0">
              <a:buNone/>
            </a:pPr>
            <a:r>
              <a:rPr lang="en-US" sz="15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40" dirty="0"/>
          </a:p>
          <a:p>
            <a:pPr marL="152400" indent="-152400">
              <a:buSzPct val="100000"/>
              <a:buChar char="•"/>
            </a:pPr>
            <a:r>
              <a:rPr lang="en-US" sz="15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review stage rehydrates those rows into ProductInput objects so metadata is preserved during review scraping.</a:t>
            </a:r>
            <a:pPr indent="0" marL="0">
              <a:buNone/>
            </a:pPr>
            <a:r>
              <a:rPr lang="en-US" sz="15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40" dirty="0"/>
          </a:p>
          <a:p>
            <a:pPr marL="152400" indent="-152400">
              <a:buSzPct val="100000"/>
              <a:buChar char="•"/>
            </a:pPr>
            <a:r>
              <a:rPr lang="en-US" sz="15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normalize_review_rows() enriches every raw review dictionary with product-level fields before writing ReviewRow entries.</a:t>
            </a:r>
            <a:pPr indent="0" marL="0">
              <a:buNone/>
            </a:pPr>
            <a:r>
              <a:rPr lang="en-US" sz="15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40" dirty="0"/>
          </a:p>
          <a:p>
            <a:pPr marL="152400" indent="-152400">
              <a:buSzPct val="100000"/>
              <a:buChar char="•"/>
            </a:pPr>
            <a:r>
              <a:rPr lang="en-US" sz="154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design keeps the dataset relational: one product listing can produce many review rows without losing category, price, or source context.</a:t>
            </a:r>
            <a:endParaRPr lang="en-US" sz="1540" dirty="0"/>
          </a:p>
        </p:txBody>
      </p:sp>
      <p:sp>
        <p:nvSpPr>
          <p:cNvPr id="26" name="Shape 24"/>
          <p:cNvSpPr/>
          <p:nvPr/>
        </p:nvSpPr>
        <p:spPr>
          <a:xfrm>
            <a:off x="6656832" y="3438144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3566160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Resume-aware persistence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21424" y="3822192"/>
            <a:ext cx="424281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append_product_artifacts() writes combined_reviews.csv, a subcategory review CSV, and product_review_status.csv immediately after each product completes. load_completed_product_keys() later uses that ledger to skip already completed product IDs or URLs.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10/14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Handling, Retry Logic, And Reliability Controls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45336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Product stage controls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collect_products_for_target() retries empty HTML responses, tracks consecutive empty pages, and stops after MAX_EMPTY_PAGES to avoid infinite loops.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545336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Review stage controls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1801368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scrape_product_reviews() retries page loads, performs a first-page delayed retry for empty review results, and marks hard failures with explicit status and error text.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28432" y="1417320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545336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Graceful status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93024" y="1801368"/>
            <a:ext cx="3099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Both batch stages record success, empty, and failed outcomes instead of silently dropping bad cases.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" y="2834640"/>
            <a:ext cx="557784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handling wraps both scrape_and_write_target() and scrape_product_reviews() so errors are persisted as structured run results.</a:t>
            </a:r>
            <a:pPr indent="0" marL="0">
              <a:buNone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or empty review products are copied into failed_products.csv or empty_products.csv for later inspection.</a:t>
            </a:r>
            <a:pPr indent="0" marL="0">
              <a:buNone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log_progress(), utc_now(), and format_elapsed_seconds() produce stable UTC runtime logs for long-running jobs.</a:t>
            </a:r>
            <a:pPr indent="0" marL="0">
              <a:buNone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STATUS_TERMINAL_STATES = {'success', 'empty', 'failed'} defines what counts as fully processed during resume mode.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6629400" y="2788920"/>
            <a:ext cx="4617720" cy="2514600"/>
          </a:xfrm>
          <a:prstGeom prst="roundRect">
            <a:avLst>
              <a:gd name="adj" fmla="val 1818"/>
            </a:avLst>
          </a:prstGeom>
          <a:solidFill>
            <a:srgbClr val="F3F6FA"/>
          </a:solidFill>
          <a:ln w="12700">
            <a:solidFill>
              <a:srgbClr val="C6D1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2788920"/>
            <a:ext cx="4617720" cy="3017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9128" y="2862072"/>
            <a:ext cx="4398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Snippet: terminal-state resume logic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57416" y="3172968"/>
            <a:ext cx="436168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row.get('status', '').strip().lower()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status not in STATUS_TERMINAL_STATES: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continue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 = row.get('product_id', '').strip()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product_url = row.get('product_url', '').strip()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product_id or product_url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completed_keys.add(key)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11/14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Strategy And Verification Evidence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580644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contains dedicated unit tests for both batch stages: tests/test_batch_product_scraper.py and tests/test_batch_review_scraper.py.</a:t>
            </a:r>
            <a:pPr indent="0" marL="0">
              <a:buNone/>
            </a:pPr>
            <a:r>
              <a:rPr lang="en-US" sz="15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tests verify target-list integrity, query encoding, slug generation, URL-title fallback, HTML parsing, and artifact creation.</a:t>
            </a:r>
            <a:pPr indent="0" marL="0">
              <a:buNone/>
            </a:pPr>
            <a:r>
              <a:rPr lang="en-US" sz="15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tests verify product-input loading, review normalization, uncapped review mode, incremental artifact persistence, resume behavior, and CLI wait options.</a:t>
            </a:r>
            <a:pPr indent="0" marL="0">
              <a:buNone/>
            </a:pPr>
            <a:r>
              <a:rPr lang="en-US" sz="15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verification run in this session: python3 -m unittest tests.test_batch_product_scraper tests.test_batch_review_scraper -&gt; 13 tests, all passed.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389888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1152" y="1517904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Representative product 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31152" y="1773936"/>
            <a:ext cx="4105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B607C"/>
                </a:solidFill>
              </a:rPr>
              <a:t>build_search_url query encoding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607C"/>
                </a:solidFill>
              </a:rPr>
              <a:t>parse_product_records listing-card extraction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607C"/>
                </a:solidFill>
              </a:rPr>
              <a:t>write_csv_and_run_artifacts()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766560" y="2670048"/>
            <a:ext cx="4434840" cy="1353312"/>
          </a:xfrm>
          <a:prstGeom prst="roundRect">
            <a:avLst>
              <a:gd name="adj" fmla="val 5405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2798064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Representative review 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3054096"/>
            <a:ext cx="4105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4B607C"/>
                </a:solidFill>
              </a:rPr>
              <a:t>normalize_review_rows caps and metadata copy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4B607C"/>
                </a:solidFill>
              </a:rPr>
              <a:t>append_product_artifacts incremental progress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4B607C"/>
                </a:solidFill>
              </a:rPr>
              <a:t>run_review_batch resume skip behavior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766560" y="4224528"/>
            <a:ext cx="4434840" cy="1463040"/>
          </a:xfrm>
          <a:prstGeom prst="roundRect">
            <a:avLst>
              <a:gd name="adj" fmla="val 3125"/>
            </a:avLst>
          </a:prstGeom>
          <a:solidFill>
            <a:srgbClr val="F3F6FA"/>
          </a:solidFill>
          <a:ln w="12700">
            <a:solidFill>
              <a:srgbClr val="C6D1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4224528"/>
            <a:ext cx="4434840" cy="3017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4297680"/>
            <a:ext cx="4215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Observed command result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94576" y="4608576"/>
            <a:ext cx="4178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 13 tests in 0.010s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12/14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Limitations In The Batch Scraper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481328"/>
            <a:ext cx="3429000" cy="1152144"/>
          </a:xfrm>
          <a:prstGeom prst="roundRect">
            <a:avLst>
              <a:gd name="adj" fmla="val 6349"/>
            </a:avLst>
          </a:prstGeom>
          <a:solidFill>
            <a:srgbClr val="FCE2E2"/>
          </a:solidFill>
          <a:ln w="12700">
            <a:solidFill>
              <a:srgbClr val="C85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934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Flipkart DOM dependency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65376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The review parser depends on the current React Native Web structure, selectors like div.css-146c3p1, and relative-date text patterns. Major frontend changes could break parsing.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481328"/>
            <a:ext cx="3429000" cy="1152144"/>
          </a:xfrm>
          <a:prstGeom prst="roundRect">
            <a:avLst>
              <a:gd name="adj" fmla="val 6349"/>
            </a:avLst>
          </a:prstGeom>
          <a:solidFill>
            <a:srgbClr val="FCE2E2"/>
          </a:solidFill>
          <a:ln w="12700">
            <a:solidFill>
              <a:srgbClr val="C85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0934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No anti-blocking escalation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1865376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The current code uses Playwright and browser-like headers, but it does not implement rotating proxies, adaptive backoff, or captcha handling.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28432" y="1481328"/>
            <a:ext cx="3429000" cy="1152144"/>
          </a:xfrm>
          <a:prstGeom prst="roundRect">
            <a:avLst>
              <a:gd name="adj" fmla="val 6349"/>
            </a:avLst>
          </a:prstGeom>
          <a:solidFill>
            <a:srgbClr val="FCE2E2"/>
          </a:solidFill>
          <a:ln w="12700">
            <a:solidFill>
              <a:srgbClr val="C85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60934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Limited semantic validation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93024" y="1865376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The parser checks structure and simple text patterns, but it does not verify whether a review belongs to a variant beyond the visible page text.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" y="2999232"/>
            <a:ext cx="1046988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scraping stops after configured page and empty-response thresholds, so very large categories may be sampled rather than fully exhausted.</a:t>
            </a:r>
            <a:pPr indent="0" marL="0">
              <a:buNone/>
            </a:pPr>
            <a:r>
              <a:rPr lang="en-US" sz="153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30" dirty="0"/>
          </a:p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count pagination uses REVIEWS_PER_PAGE_GUESS = 10, which assumes the current site page size remains stable.</a:t>
            </a:r>
            <a:pPr indent="0" marL="0">
              <a:buNone/>
            </a:pPr>
            <a:r>
              <a:rPr lang="en-US" sz="153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30" dirty="0"/>
          </a:p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are unit-style and deterministic; they do not run live end-to-end browser scraping against Flipkart in CI.</a:t>
            </a:r>
            <a:pPr indent="0" marL="0">
              <a:buNone/>
            </a:pPr>
            <a:r>
              <a:rPr lang="en-US" sz="153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30" dirty="0"/>
          </a:p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writes CSV-based artifacts only; there is no database layer or analytics dashboard in this repository.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13/14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Improvements And Viva Conclusion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3383280" cy="1042416"/>
          </a:xfrm>
          <a:prstGeom prst="roundRect">
            <a:avLst>
              <a:gd name="adj" fmla="val 7018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3677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Recommended future 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Add proxy rotation, configurable category lists, richer logging, and schema export to databases or parquet.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508760"/>
            <a:ext cx="3383280" cy="1042416"/>
          </a:xfrm>
          <a:prstGeom prst="roundRect">
            <a:avLst>
              <a:gd name="adj" fmla="val 7018"/>
            </a:avLst>
          </a:prstGeom>
          <a:solidFill>
            <a:srgbClr val="FFF1DA"/>
          </a:solidFill>
          <a:ln w="12700">
            <a:solidFill>
              <a:srgbClr val="FFB6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3677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Parser hardening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89280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Version selectors, add DOM snapshot fixtures, and create more tests for malformed or partial review blocks.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508760"/>
            <a:ext cx="3383280" cy="1042416"/>
          </a:xfrm>
          <a:prstGeom prst="roundRect">
            <a:avLst>
              <a:gd name="adj" fmla="val 7018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3677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Usability upgrades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189280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Expose summary dashboards or notebooks on top of the generated CSV and JSON run artifacts.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" y="2944368"/>
            <a:ext cx="640080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demonstrates a complete batch scraping pipeline, not only page scraping scripts.</a:t>
            </a:r>
            <a:pPr indent="0" marL="0">
              <a:buNone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strongest academic points are modular design, function-level normalization, resumable execution, and measurable artifact generation.</a:t>
            </a:r>
            <a:pPr indent="0" marL="0">
              <a:buNone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two-stage design makes the system easier to reason about: first discover products, then enrich them with reviews.</a:t>
            </a:r>
            <a:pPr indent="0" marL="0">
              <a:buNone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report is tied to exact file names and function names, it is defensible in a viva or code walkthrough.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98080" y="2962656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FFFDFC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672" y="309067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</a:rPr>
              <a:t>Final takeaway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62672" y="3346704"/>
            <a:ext cx="341985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batch_product_scraper.py and batch_review_scraper.py together form a resilient data-collection workflow with structured outputs, retry logic, and test-backed helper modules.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607C"/>
                </a:solidFill>
              </a:rPr>
              <a:t>Thank you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Flipkart Batch Scraper Report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6424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14/14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Rajiv Personal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data scraps</dc:title>
  <dc:subject>Flipkart batch scraper academic project report</dc:subject>
  <dc:creator>OpenAI Codex</dc:creator>
  <cp:lastModifiedBy>OpenAI Codex</cp:lastModifiedBy>
  <cp:revision>1</cp:revision>
  <dcterms:created xsi:type="dcterms:W3CDTF">2026-06-05T09:18:25Z</dcterms:created>
  <dcterms:modified xsi:type="dcterms:W3CDTF">2026-06-05T09:18:25Z</dcterms:modified>
</cp:coreProperties>
</file>